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Montserrat SemiBold"/>
      <p:regular r:id="rId11"/>
      <p:bold r:id="rId12"/>
      <p:italic r:id="rId13"/>
      <p:boldItalic r:id="rId14"/>
    </p:embeddedFont>
    <p:embeddedFont>
      <p:font typeface="Montserrat"/>
      <p:regular r:id="rId15"/>
      <p:bold r:id="rId16"/>
      <p:italic r:id="rId17"/>
      <p:boldItalic r:id="rId18"/>
    </p:embeddedFont>
    <p:embeddedFont>
      <p:font typeface="Montserrat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Medium-bold.fntdata"/><Relationship Id="rId11" Type="http://schemas.openxmlformats.org/officeDocument/2006/relationships/font" Target="fonts/MontserratSemiBold-regular.fntdata"/><Relationship Id="rId22" Type="http://schemas.openxmlformats.org/officeDocument/2006/relationships/font" Target="fonts/MontserratMedium-boldItalic.fntdata"/><Relationship Id="rId10" Type="http://schemas.openxmlformats.org/officeDocument/2006/relationships/slide" Target="slides/slide5.xml"/><Relationship Id="rId21" Type="http://schemas.openxmlformats.org/officeDocument/2006/relationships/font" Target="fonts/MontserratMedium-italic.fntdata"/><Relationship Id="rId13" Type="http://schemas.openxmlformats.org/officeDocument/2006/relationships/font" Target="fonts/MontserratSemiBold-italic.fntdata"/><Relationship Id="rId12" Type="http://schemas.openxmlformats.org/officeDocument/2006/relationships/font" Target="fonts/Montserrat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font" Target="fonts/MontserratSemiBold-boldItalic.fntdata"/><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MontserratMedium-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830bf5f09_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c830bf5f09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c830bf5f09_4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c830bf5f09_4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830bf5f09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c830bf5f09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830bf5f09_4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c830bf5f09_4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830bf5f09_4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c830bf5f09_4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5.jpg"/><Relationship Id="rId5" Type="http://schemas.openxmlformats.org/officeDocument/2006/relationships/image" Target="../media/image10.png"/><Relationship Id="rId6" Type="http://schemas.openxmlformats.org/officeDocument/2006/relationships/image" Target="../media/image3.jpg"/><Relationship Id="rId7" Type="http://schemas.openxmlformats.org/officeDocument/2006/relationships/hyperlink" Target="https://little-lingo-lab.base44.ap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6F9"/>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4572000" cy="5143500"/>
          </a:xfrm>
          <a:prstGeom prst="rect">
            <a:avLst/>
          </a:prstGeom>
          <a:noFill/>
          <a:ln>
            <a:noFill/>
          </a:ln>
        </p:spPr>
      </p:pic>
      <p:sp>
        <p:nvSpPr>
          <p:cNvPr id="55" name="Google Shape;55;p13"/>
          <p:cNvSpPr txBox="1"/>
          <p:nvPr>
            <p:ph type="ctrTitle"/>
          </p:nvPr>
        </p:nvSpPr>
        <p:spPr>
          <a:xfrm>
            <a:off x="4572004" y="744575"/>
            <a:ext cx="42603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a:solidFill>
                  <a:srgbClr val="016AC5"/>
                </a:solidFill>
                <a:latin typeface="Montserrat"/>
                <a:ea typeface="Montserrat"/>
                <a:cs typeface="Montserrat"/>
                <a:sym typeface="Montserrat"/>
              </a:rPr>
              <a:t>The Smart Adaptive Suitcase</a:t>
            </a:r>
            <a:endParaRPr b="1">
              <a:solidFill>
                <a:srgbClr val="016AC5"/>
              </a:solidFill>
              <a:latin typeface="Montserrat"/>
              <a:ea typeface="Montserrat"/>
              <a:cs typeface="Montserrat"/>
              <a:sym typeface="Montserrat"/>
            </a:endParaRPr>
          </a:p>
        </p:txBody>
      </p:sp>
      <p:sp>
        <p:nvSpPr>
          <p:cNvPr id="56" name="Google Shape;56;p13"/>
          <p:cNvSpPr txBox="1"/>
          <p:nvPr>
            <p:ph idx="1" type="subTitle"/>
          </p:nvPr>
        </p:nvSpPr>
        <p:spPr>
          <a:xfrm>
            <a:off x="4572000" y="2797175"/>
            <a:ext cx="4260300" cy="792600"/>
          </a:xfrm>
          <a:prstGeom prst="rect">
            <a:avLst/>
          </a:prstGeom>
        </p:spPr>
        <p:txBody>
          <a:bodyPr anchorCtr="0" anchor="b" bIns="91425" lIns="91425" spcFirstLastPara="1" rIns="91425" wrap="square" tIns="91425">
            <a:normAutofit/>
          </a:bodyPr>
          <a:lstStyle/>
          <a:p>
            <a:pPr indent="0" lvl="0" marL="0" rtl="0" algn="l">
              <a:lnSpc>
                <a:spcPct val="80000"/>
              </a:lnSpc>
              <a:spcBef>
                <a:spcPts val="0"/>
              </a:spcBef>
              <a:spcAft>
                <a:spcPts val="0"/>
              </a:spcAft>
              <a:buSzPts val="935"/>
              <a:buNone/>
            </a:pPr>
            <a:r>
              <a:rPr lang="en" sz="2280">
                <a:solidFill>
                  <a:srgbClr val="016AC5"/>
                </a:solidFill>
                <a:latin typeface="Montserrat Medium"/>
                <a:ea typeface="Montserrat Medium"/>
                <a:cs typeface="Montserrat Medium"/>
                <a:sym typeface="Montserrat Medium"/>
              </a:rPr>
              <a:t>Innovative Luggage for the Modern Traveler</a:t>
            </a:r>
            <a:endParaRPr sz="2280">
              <a:solidFill>
                <a:srgbClr val="016AC5"/>
              </a:solidFill>
              <a:latin typeface="Montserrat Medium"/>
              <a:ea typeface="Montserrat Medium"/>
              <a:cs typeface="Montserrat Medium"/>
              <a:sym typeface="Montserrat Medium"/>
            </a:endParaRPr>
          </a:p>
        </p:txBody>
      </p:sp>
      <p:sp>
        <p:nvSpPr>
          <p:cNvPr id="57" name="Google Shape;57;p13"/>
          <p:cNvSpPr txBox="1"/>
          <p:nvPr/>
        </p:nvSpPr>
        <p:spPr>
          <a:xfrm>
            <a:off x="4572000" y="4045175"/>
            <a:ext cx="3656700" cy="9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016AC5"/>
                </a:solidFill>
                <a:latin typeface="Montserrat Medium"/>
                <a:ea typeface="Montserrat Medium"/>
                <a:cs typeface="Montserrat Medium"/>
                <a:sym typeface="Montserrat Medium"/>
              </a:rPr>
              <a:t>Armando Suarez Burgos </a:t>
            </a:r>
            <a:endParaRPr sz="1700">
              <a:solidFill>
                <a:srgbClr val="016AC5"/>
              </a:solidFill>
              <a:latin typeface="Montserrat Medium"/>
              <a:ea typeface="Montserrat Medium"/>
              <a:cs typeface="Montserrat Medium"/>
              <a:sym typeface="Montserrat Medium"/>
            </a:endParaRPr>
          </a:p>
          <a:p>
            <a:pPr indent="0" lvl="0" marL="0" rtl="0" algn="l">
              <a:spcBef>
                <a:spcPts val="0"/>
              </a:spcBef>
              <a:spcAft>
                <a:spcPts val="0"/>
              </a:spcAft>
              <a:buNone/>
            </a:pPr>
            <a:r>
              <a:rPr lang="en" sz="1700">
                <a:solidFill>
                  <a:srgbClr val="016AC5"/>
                </a:solidFill>
                <a:latin typeface="Montserrat Medium"/>
                <a:ea typeface="Montserrat Medium"/>
                <a:cs typeface="Montserrat Medium"/>
                <a:sym typeface="Montserrat Medium"/>
              </a:rPr>
              <a:t>Bronx Tech Hub’s AI Prompt</a:t>
            </a:r>
            <a:endParaRPr sz="1700">
              <a:solidFill>
                <a:srgbClr val="016AC5"/>
              </a:solidFill>
              <a:latin typeface="Montserrat Medium"/>
              <a:ea typeface="Montserrat Medium"/>
              <a:cs typeface="Montserrat Medium"/>
              <a:sym typeface="Montserrat Medium"/>
            </a:endParaRPr>
          </a:p>
          <a:p>
            <a:pPr indent="0" lvl="0" marL="0" rtl="0" algn="l">
              <a:spcBef>
                <a:spcPts val="0"/>
              </a:spcBef>
              <a:spcAft>
                <a:spcPts val="0"/>
              </a:spcAft>
              <a:buNone/>
            </a:pPr>
            <a:r>
              <a:rPr lang="en" sz="1700">
                <a:solidFill>
                  <a:srgbClr val="016AC5"/>
                </a:solidFill>
                <a:latin typeface="Montserrat Medium"/>
                <a:ea typeface="Montserrat Medium"/>
                <a:cs typeface="Montserrat Medium"/>
                <a:sym typeface="Montserrat Medium"/>
              </a:rPr>
              <a:t>AI Project Presentation  </a:t>
            </a:r>
            <a:endParaRPr sz="1700">
              <a:solidFill>
                <a:srgbClr val="016AC5"/>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sz="1800">
              <a:solidFill>
                <a:schemeClr val="dk2"/>
              </a:solidFill>
            </a:endParaRPr>
          </a:p>
        </p:txBody>
      </p:sp>
      <p:pic>
        <p:nvPicPr>
          <p:cNvPr id="58" name="Google Shape;58;p13"/>
          <p:cNvPicPr preferRelativeResize="0"/>
          <p:nvPr/>
        </p:nvPicPr>
        <p:blipFill>
          <a:blip r:embed="rId4">
            <a:alphaModFix/>
          </a:blip>
          <a:stretch>
            <a:fillRect/>
          </a:stretch>
        </p:blipFill>
        <p:spPr>
          <a:xfrm flipH="1">
            <a:off x="8039725" y="4104264"/>
            <a:ext cx="792581" cy="79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 name="Shape 62"/>
        <p:cNvGrpSpPr/>
        <p:nvPr/>
      </p:nvGrpSpPr>
      <p:grpSpPr>
        <a:xfrm>
          <a:off x="0" y="0"/>
          <a:ext cx="0" cy="0"/>
          <a:chOff x="0" y="0"/>
          <a:chExt cx="0" cy="0"/>
        </a:xfrm>
      </p:grpSpPr>
      <p:sp>
        <p:nvSpPr>
          <p:cNvPr id="63" name="Google Shape;63;p14"/>
          <p:cNvSpPr txBox="1"/>
          <p:nvPr>
            <p:ph type="title"/>
          </p:nvPr>
        </p:nvSpPr>
        <p:spPr>
          <a:xfrm>
            <a:off x="311700" y="672650"/>
            <a:ext cx="8622600" cy="572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SzPts val="990"/>
              <a:buNone/>
            </a:pPr>
            <a:r>
              <a:rPr b="1" lang="en" sz="3320">
                <a:solidFill>
                  <a:schemeClr val="lt2"/>
                </a:solidFill>
                <a:latin typeface="Montserrat"/>
                <a:ea typeface="Montserrat"/>
                <a:cs typeface="Montserrat"/>
                <a:sym typeface="Montserrat"/>
              </a:rPr>
              <a:t>What I </a:t>
            </a:r>
            <a:r>
              <a:rPr b="1" lang="en" sz="3320">
                <a:solidFill>
                  <a:schemeClr val="lt2"/>
                </a:solidFill>
                <a:latin typeface="Montserrat"/>
                <a:ea typeface="Montserrat"/>
                <a:cs typeface="Montserrat"/>
                <a:sym typeface="Montserrat"/>
              </a:rPr>
              <a:t>Learned</a:t>
            </a:r>
            <a:r>
              <a:rPr b="1" lang="en" sz="3320">
                <a:solidFill>
                  <a:schemeClr val="lt2"/>
                </a:solidFill>
                <a:latin typeface="Montserrat"/>
                <a:ea typeface="Montserrat"/>
                <a:cs typeface="Montserrat"/>
                <a:sym typeface="Montserrat"/>
              </a:rPr>
              <a:t> from the Fellowship </a:t>
            </a:r>
            <a:r>
              <a:rPr b="1" lang="en" sz="3320">
                <a:solidFill>
                  <a:schemeClr val="lt2"/>
                </a:solidFill>
                <a:latin typeface="Montserrat"/>
                <a:ea typeface="Montserrat"/>
                <a:cs typeface="Montserrat"/>
                <a:sym typeface="Montserrat"/>
              </a:rPr>
              <a:t> </a:t>
            </a:r>
            <a:endParaRPr b="1" sz="3320">
              <a:solidFill>
                <a:schemeClr val="lt2"/>
              </a:solidFill>
              <a:latin typeface="Montserrat"/>
              <a:ea typeface="Montserrat"/>
              <a:cs typeface="Montserrat"/>
              <a:sym typeface="Montserrat"/>
            </a:endParaRPr>
          </a:p>
        </p:txBody>
      </p:sp>
      <p:sp>
        <p:nvSpPr>
          <p:cNvPr id="64" name="Google Shape;64;p14"/>
          <p:cNvSpPr txBox="1"/>
          <p:nvPr>
            <p:ph idx="1" type="body"/>
          </p:nvPr>
        </p:nvSpPr>
        <p:spPr>
          <a:xfrm>
            <a:off x="311700" y="1044425"/>
            <a:ext cx="8520600" cy="351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900">
                <a:latin typeface="Montserrat Medium"/>
                <a:ea typeface="Montserrat Medium"/>
                <a:cs typeface="Montserrat Medium"/>
                <a:sym typeface="Montserrat Medium"/>
              </a:rPr>
              <a:t>     </a:t>
            </a:r>
            <a:endParaRPr sz="1900">
              <a:latin typeface="Montserrat Medium"/>
              <a:ea typeface="Montserrat Medium"/>
              <a:cs typeface="Montserrat Medium"/>
              <a:sym typeface="Montserrat Medium"/>
            </a:endParaRPr>
          </a:p>
        </p:txBody>
      </p:sp>
      <p:sp>
        <p:nvSpPr>
          <p:cNvPr id="65" name="Google Shape;65;p14"/>
          <p:cNvSpPr txBox="1"/>
          <p:nvPr/>
        </p:nvSpPr>
        <p:spPr>
          <a:xfrm>
            <a:off x="691650" y="1681500"/>
            <a:ext cx="7862700" cy="2792400"/>
          </a:xfrm>
          <a:prstGeom prst="rect">
            <a:avLst/>
          </a:prstGeom>
          <a:solidFill>
            <a:srgbClr val="014F8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014F86"/>
                </a:solidFill>
                <a:latin typeface="Montserrat SemiBold"/>
                <a:ea typeface="Montserrat SemiBold"/>
                <a:cs typeface="Montserrat SemiBold"/>
                <a:sym typeface="Montserrat SemiBold"/>
              </a:rPr>
              <a:t>  </a:t>
            </a:r>
            <a:r>
              <a:rPr b="1" lang="en" sz="1900">
                <a:solidFill>
                  <a:schemeClr val="lt2"/>
                </a:solidFill>
              </a:rPr>
              <a:t>Through this fellowship, I learned that artificial intelligence is not just about building smart systems, but about solving real world problems with purpose, and ethical responsibility. I developed a deeper understanding of how to connect technology with users needs, validate ideas through market research and think like both an engineer an entrepreneur. The experience strengthened my ability to transform innovative concepts like my smart suitcase into practical. Most importantly, I learned that successful AI innovation requires vision, collaboration, and discipline execution. </a:t>
            </a:r>
            <a:endParaRPr b="1" sz="1900">
              <a:solidFill>
                <a:schemeClr val="lt2"/>
              </a:solidFill>
            </a:endParaRPr>
          </a:p>
          <a:p>
            <a:pPr indent="0" lvl="0" marL="0" rtl="0" algn="ctr">
              <a:lnSpc>
                <a:spcPct val="115000"/>
              </a:lnSpc>
              <a:spcBef>
                <a:spcPts val="1200"/>
              </a:spcBef>
              <a:spcAft>
                <a:spcPts val="0"/>
              </a:spcAft>
              <a:buClr>
                <a:schemeClr val="dk1"/>
              </a:buClr>
              <a:buSzPts val="1100"/>
              <a:buFont typeface="Arial"/>
              <a:buNone/>
            </a:pPr>
            <a:r>
              <a:rPr lang="en" sz="1100">
                <a:solidFill>
                  <a:schemeClr val="lt2"/>
                </a:solidFill>
              </a:rPr>
              <a:t> </a:t>
            </a:r>
            <a:endParaRPr sz="1100">
              <a:solidFill>
                <a:schemeClr val="lt2"/>
              </a:solidFill>
            </a:endParaRPr>
          </a:p>
          <a:p>
            <a:pPr indent="0" lvl="0" marL="0" rtl="0" algn="ctr">
              <a:spcBef>
                <a:spcPts val="1200"/>
              </a:spcBef>
              <a:spcAft>
                <a:spcPts val="0"/>
              </a:spcAft>
              <a:buNone/>
            </a:pPr>
            <a:r>
              <a:t/>
            </a:r>
            <a:endParaRPr sz="1800">
              <a:solidFill>
                <a:schemeClr val="dk1"/>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1800">
              <a:solidFill>
                <a:srgbClr val="014F86"/>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1800">
              <a:solidFill>
                <a:srgbClr val="014F86"/>
              </a:solidFill>
              <a:latin typeface="Montserrat SemiBold"/>
              <a:ea typeface="Montserrat SemiBold"/>
              <a:cs typeface="Montserrat SemiBold"/>
              <a:sym typeface="Montserrat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
        <p:nvSpPr>
          <p:cNvPr id="70" name="Google Shape;70;p15"/>
          <p:cNvSpPr txBox="1"/>
          <p:nvPr/>
        </p:nvSpPr>
        <p:spPr>
          <a:xfrm>
            <a:off x="417764" y="548263"/>
            <a:ext cx="4941600" cy="632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2700">
                <a:solidFill>
                  <a:schemeClr val="lt2"/>
                </a:solidFill>
              </a:rPr>
              <a:t>The Travel Problem</a:t>
            </a:r>
            <a:endParaRPr sz="2700">
              <a:solidFill>
                <a:schemeClr val="lt2"/>
              </a:solidFill>
            </a:endParaRPr>
          </a:p>
        </p:txBody>
      </p:sp>
      <p:sp>
        <p:nvSpPr>
          <p:cNvPr id="71" name="Google Shape;71;p15"/>
          <p:cNvSpPr txBox="1"/>
          <p:nvPr/>
        </p:nvSpPr>
        <p:spPr>
          <a:xfrm>
            <a:off x="279000" y="579925"/>
            <a:ext cx="8586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chemeClr val="dk2"/>
              </a:solidFill>
            </a:endParaRPr>
          </a:p>
        </p:txBody>
      </p:sp>
      <p:sp>
        <p:nvSpPr>
          <p:cNvPr id="72" name="Google Shape;72;p15"/>
          <p:cNvSpPr txBox="1"/>
          <p:nvPr/>
        </p:nvSpPr>
        <p:spPr>
          <a:xfrm>
            <a:off x="201000" y="917550"/>
            <a:ext cx="3790500" cy="42192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2"/>
              </a:buClr>
              <a:buSzPts val="1900"/>
              <a:buFont typeface="Montserrat Medium"/>
              <a:buChar char="●"/>
            </a:pPr>
            <a:r>
              <a:rPr lang="en" sz="1900">
                <a:solidFill>
                  <a:schemeClr val="lt2"/>
                </a:solidFill>
                <a:latin typeface="Montserrat Medium"/>
                <a:ea typeface="Montserrat Medium"/>
                <a:cs typeface="Montserrat Medium"/>
                <a:sym typeface="Montserrat Medium"/>
              </a:rPr>
              <a:t>Airline</a:t>
            </a:r>
            <a:r>
              <a:rPr lang="en" sz="1900">
                <a:solidFill>
                  <a:schemeClr val="lt2"/>
                </a:solidFill>
                <a:latin typeface="Montserrat Medium"/>
                <a:ea typeface="Montserrat Medium"/>
                <a:cs typeface="Montserrat Medium"/>
                <a:sym typeface="Montserrat Medium"/>
              </a:rPr>
              <a:t> size requirements are different (Delta, American and JetBlue 22 x 14 x 9 inches) and Spirit and Frontier 18” x 14” x 8”)</a:t>
            </a:r>
            <a:endParaRPr sz="1900">
              <a:solidFill>
                <a:schemeClr val="lt2"/>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2"/>
              </a:buClr>
              <a:buSzPts val="1900"/>
              <a:buFont typeface="Montserrat Medium"/>
              <a:buChar char="●"/>
            </a:pPr>
            <a:r>
              <a:rPr lang="en" sz="1900">
                <a:solidFill>
                  <a:schemeClr val="lt2"/>
                </a:solidFill>
                <a:latin typeface="Montserrat Medium"/>
                <a:ea typeface="Montserrat Medium"/>
                <a:cs typeface="Montserrat Medium"/>
                <a:sym typeface="Montserrat Medium"/>
              </a:rPr>
              <a:t>Travelers pay extra fees for oversized luggage. ( run from $35- $65)</a:t>
            </a:r>
            <a:endParaRPr sz="1900">
              <a:solidFill>
                <a:schemeClr val="lt2"/>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2"/>
              </a:buClr>
              <a:buSzPts val="1900"/>
              <a:buFont typeface="Montserrat Medium"/>
              <a:buChar char="●"/>
            </a:pPr>
            <a:r>
              <a:rPr lang="en" sz="1900">
                <a:solidFill>
                  <a:schemeClr val="lt2"/>
                </a:solidFill>
                <a:latin typeface="Montserrat Medium"/>
                <a:ea typeface="Montserrat Medium"/>
                <a:cs typeface="Montserrat Medium"/>
                <a:sym typeface="Montserrat Medium"/>
              </a:rPr>
              <a:t>Traditional suitcases are bulky to store </a:t>
            </a:r>
            <a:endParaRPr sz="1900">
              <a:solidFill>
                <a:schemeClr val="lt2"/>
              </a:solidFill>
              <a:latin typeface="Montserrat Medium"/>
              <a:ea typeface="Montserrat Medium"/>
              <a:cs typeface="Montserrat Medium"/>
              <a:sym typeface="Montserrat Medium"/>
            </a:endParaRPr>
          </a:p>
          <a:p>
            <a:pPr indent="-342900" lvl="0" marL="457200" rtl="0" algn="l">
              <a:spcBef>
                <a:spcPts val="0"/>
              </a:spcBef>
              <a:spcAft>
                <a:spcPts val="0"/>
              </a:spcAft>
              <a:buClr>
                <a:schemeClr val="lt2"/>
              </a:buClr>
              <a:buSzPts val="1800"/>
              <a:buFont typeface="Montserrat Medium"/>
              <a:buChar char="●"/>
            </a:pPr>
            <a:r>
              <a:rPr lang="en" sz="1900">
                <a:solidFill>
                  <a:schemeClr val="lt2"/>
                </a:solidFill>
                <a:latin typeface="Montserrat Medium"/>
                <a:ea typeface="Montserrat Medium"/>
                <a:cs typeface="Montserrat Medium"/>
                <a:sym typeface="Montserrat Medium"/>
              </a:rPr>
              <a:t>No flexibility once packed</a:t>
            </a:r>
            <a:r>
              <a:rPr lang="en" sz="1800">
                <a:solidFill>
                  <a:schemeClr val="lt2"/>
                </a:solidFill>
                <a:latin typeface="Montserrat Medium"/>
                <a:ea typeface="Montserrat Medium"/>
                <a:cs typeface="Montserrat Medium"/>
                <a:sym typeface="Montserrat Medium"/>
              </a:rPr>
              <a:t> </a:t>
            </a:r>
            <a:endParaRPr sz="1800">
              <a:solidFill>
                <a:schemeClr val="lt2"/>
              </a:solidFill>
              <a:latin typeface="Montserrat Medium"/>
              <a:ea typeface="Montserrat Medium"/>
              <a:cs typeface="Montserrat Medium"/>
              <a:sym typeface="Montserrat Medium"/>
            </a:endParaRPr>
          </a:p>
        </p:txBody>
      </p:sp>
      <p:sp>
        <p:nvSpPr>
          <p:cNvPr id="73" name="Google Shape;73;p15"/>
          <p:cNvSpPr txBox="1"/>
          <p:nvPr/>
        </p:nvSpPr>
        <p:spPr>
          <a:xfrm>
            <a:off x="4572007" y="575937"/>
            <a:ext cx="3790500" cy="3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500">
                <a:solidFill>
                  <a:schemeClr val="lt2"/>
                </a:solidFill>
                <a:latin typeface="Montserrat Medium"/>
                <a:ea typeface="Montserrat Medium"/>
                <a:cs typeface="Montserrat Medium"/>
                <a:sym typeface="Montserrat Medium"/>
              </a:rPr>
              <a:t>                  My S</a:t>
            </a:r>
            <a:r>
              <a:rPr lang="en" sz="2500">
                <a:solidFill>
                  <a:schemeClr val="lt2"/>
                </a:solidFill>
                <a:latin typeface="Montserrat Medium"/>
                <a:ea typeface="Montserrat Medium"/>
                <a:cs typeface="Montserrat Medium"/>
                <a:sym typeface="Montserrat Medium"/>
              </a:rPr>
              <a:t>olution</a:t>
            </a:r>
            <a:endParaRPr sz="2500">
              <a:solidFill>
                <a:schemeClr val="lt2"/>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sz="2500">
              <a:solidFill>
                <a:schemeClr val="lt2"/>
              </a:solidFill>
              <a:latin typeface="Montserrat Medium"/>
              <a:ea typeface="Montserrat Medium"/>
              <a:cs typeface="Montserrat Medium"/>
              <a:sym typeface="Montserrat Medium"/>
            </a:endParaRPr>
          </a:p>
        </p:txBody>
      </p:sp>
      <p:cxnSp>
        <p:nvCxnSpPr>
          <p:cNvPr id="74" name="Google Shape;74;p15"/>
          <p:cNvCxnSpPr/>
          <p:nvPr/>
        </p:nvCxnSpPr>
        <p:spPr>
          <a:xfrm>
            <a:off x="4741550" y="0"/>
            <a:ext cx="27000" cy="5143500"/>
          </a:xfrm>
          <a:prstGeom prst="straightConnector1">
            <a:avLst/>
          </a:prstGeom>
          <a:noFill/>
          <a:ln cap="flat" cmpd="sng" w="76200">
            <a:solidFill>
              <a:schemeClr val="accent4"/>
            </a:solidFill>
            <a:prstDash val="solid"/>
            <a:round/>
            <a:headEnd len="med" w="med" type="none"/>
            <a:tailEnd len="med" w="med" type="none"/>
          </a:ln>
        </p:spPr>
      </p:cxnSp>
      <p:sp>
        <p:nvSpPr>
          <p:cNvPr id="75" name="Google Shape;75;p15"/>
          <p:cNvSpPr txBox="1"/>
          <p:nvPr/>
        </p:nvSpPr>
        <p:spPr>
          <a:xfrm>
            <a:off x="5907000" y="579975"/>
            <a:ext cx="2625300" cy="5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cxnSp>
        <p:nvCxnSpPr>
          <p:cNvPr id="76" name="Google Shape;76;p15"/>
          <p:cNvCxnSpPr/>
          <p:nvPr/>
        </p:nvCxnSpPr>
        <p:spPr>
          <a:xfrm>
            <a:off x="6094500" y="1071575"/>
            <a:ext cx="2103000" cy="13500"/>
          </a:xfrm>
          <a:prstGeom prst="straightConnector1">
            <a:avLst/>
          </a:prstGeom>
          <a:noFill/>
          <a:ln cap="flat" cmpd="sng" w="9525">
            <a:solidFill>
              <a:schemeClr val="accent4"/>
            </a:solidFill>
            <a:prstDash val="solid"/>
            <a:round/>
            <a:headEnd len="med" w="med" type="none"/>
            <a:tailEnd len="med" w="med" type="none"/>
          </a:ln>
        </p:spPr>
      </p:cxnSp>
      <p:sp>
        <p:nvSpPr>
          <p:cNvPr id="77" name="Google Shape;77;p15"/>
          <p:cNvSpPr txBox="1"/>
          <p:nvPr/>
        </p:nvSpPr>
        <p:spPr>
          <a:xfrm>
            <a:off x="6081125" y="529450"/>
            <a:ext cx="1339500" cy="3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78" name="Google Shape;78;p15"/>
          <p:cNvSpPr/>
          <p:nvPr/>
        </p:nvSpPr>
        <p:spPr>
          <a:xfrm>
            <a:off x="5920375" y="615980"/>
            <a:ext cx="2442000" cy="455700"/>
          </a:xfrm>
          <a:prstGeom prst="roundRect">
            <a:avLst>
              <a:gd fmla="val 16667" name="adj"/>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5"/>
          <p:cNvSpPr/>
          <p:nvPr/>
        </p:nvSpPr>
        <p:spPr>
          <a:xfrm>
            <a:off x="361650" y="568575"/>
            <a:ext cx="3469200" cy="455700"/>
          </a:xfrm>
          <a:prstGeom prst="roundRect">
            <a:avLst>
              <a:gd fmla="val 16667" name="adj"/>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5"/>
          <p:cNvSpPr txBox="1"/>
          <p:nvPr/>
        </p:nvSpPr>
        <p:spPr>
          <a:xfrm>
            <a:off x="5197075" y="1125150"/>
            <a:ext cx="3790500" cy="38040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2"/>
              </a:buClr>
              <a:buSzPts val="1900"/>
              <a:buFont typeface="Montserrat Medium"/>
              <a:buChar char="●"/>
            </a:pPr>
            <a:r>
              <a:rPr lang="en" sz="1900">
                <a:solidFill>
                  <a:schemeClr val="lt2"/>
                </a:solidFill>
                <a:latin typeface="Montserrat Medium"/>
                <a:ea typeface="Montserrat Medium"/>
                <a:cs typeface="Montserrat Medium"/>
                <a:sym typeface="Montserrat Medium"/>
              </a:rPr>
              <a:t>App-Controlled movement </a:t>
            </a:r>
            <a:endParaRPr sz="1900">
              <a:solidFill>
                <a:schemeClr val="lt2"/>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2"/>
              </a:buClr>
              <a:buSzPts val="1900"/>
              <a:buFont typeface="Montserrat Medium"/>
              <a:buChar char="●"/>
            </a:pPr>
            <a:r>
              <a:rPr lang="en" sz="1900">
                <a:solidFill>
                  <a:schemeClr val="lt2"/>
                </a:solidFill>
                <a:latin typeface="Montserrat Medium"/>
                <a:ea typeface="Montserrat Medium"/>
                <a:cs typeface="Montserrat Medium"/>
                <a:sym typeface="Montserrat Medium"/>
              </a:rPr>
              <a:t>Expandable &amp; Collapsible design</a:t>
            </a:r>
            <a:endParaRPr sz="1900">
              <a:solidFill>
                <a:schemeClr val="lt2"/>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2"/>
              </a:buClr>
              <a:buSzPts val="1900"/>
              <a:buFont typeface="Montserrat Medium"/>
              <a:buChar char="●"/>
            </a:pPr>
            <a:r>
              <a:rPr lang="en" sz="1900">
                <a:solidFill>
                  <a:schemeClr val="lt2"/>
                </a:solidFill>
                <a:latin typeface="Montserrat Medium"/>
                <a:ea typeface="Montserrat Medium"/>
                <a:cs typeface="Montserrat Medium"/>
                <a:sym typeface="Montserrat Medium"/>
              </a:rPr>
              <a:t>Secure lock &amp; GPS tracking</a:t>
            </a:r>
            <a:endParaRPr sz="1900">
              <a:solidFill>
                <a:schemeClr val="lt2"/>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2"/>
              </a:buClr>
              <a:buSzPts val="1900"/>
              <a:buChar char="●"/>
            </a:pPr>
            <a:r>
              <a:rPr lang="en" sz="1900">
                <a:solidFill>
                  <a:schemeClr val="lt2"/>
                </a:solidFill>
                <a:latin typeface="Montserrat Medium"/>
                <a:ea typeface="Montserrat Medium"/>
                <a:cs typeface="Montserrat Medium"/>
                <a:sym typeface="Montserrat Medium"/>
              </a:rPr>
              <a:t>Fully </a:t>
            </a:r>
            <a:r>
              <a:rPr lang="en" sz="1900">
                <a:solidFill>
                  <a:schemeClr val="lt2"/>
                </a:solidFill>
                <a:latin typeface="Montserrat Medium"/>
                <a:ea typeface="Montserrat Medium"/>
                <a:cs typeface="Montserrat Medium"/>
                <a:sym typeface="Montserrat Medium"/>
              </a:rPr>
              <a:t>customizable</a:t>
            </a:r>
            <a:r>
              <a:rPr lang="en" sz="1900">
                <a:solidFill>
                  <a:schemeClr val="lt2"/>
                </a:solidFill>
                <a:latin typeface="Montserrat Medium"/>
                <a:ea typeface="Montserrat Medium"/>
                <a:cs typeface="Montserrat Medium"/>
                <a:sym typeface="Montserrat Medium"/>
              </a:rPr>
              <a:t> appearanc</a:t>
            </a:r>
            <a:r>
              <a:rPr lang="en" sz="1900">
                <a:solidFill>
                  <a:schemeClr val="lt2"/>
                </a:solidFill>
              </a:rPr>
              <a:t>e</a:t>
            </a:r>
            <a:endParaRPr sz="1900">
              <a:solidFill>
                <a:schemeClr val="l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
        <p:nvSpPr>
          <p:cNvPr id="85" name="Google Shape;85;p16"/>
          <p:cNvSpPr txBox="1"/>
          <p:nvPr/>
        </p:nvSpPr>
        <p:spPr>
          <a:xfrm>
            <a:off x="417750" y="391650"/>
            <a:ext cx="4973700" cy="731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3300">
                <a:solidFill>
                  <a:schemeClr val="lt2"/>
                </a:solidFill>
                <a:latin typeface="Montserrat"/>
                <a:ea typeface="Montserrat"/>
                <a:cs typeface="Montserrat"/>
                <a:sym typeface="Montserrat"/>
              </a:rPr>
              <a:t>Product Feature </a:t>
            </a:r>
            <a:endParaRPr b="1" sz="3300">
              <a:solidFill>
                <a:schemeClr val="lt2"/>
              </a:solidFill>
              <a:latin typeface="Montserrat"/>
              <a:ea typeface="Montserrat"/>
              <a:cs typeface="Montserrat"/>
              <a:sym typeface="Montserrat"/>
            </a:endParaRPr>
          </a:p>
        </p:txBody>
      </p:sp>
      <p:pic>
        <p:nvPicPr>
          <p:cNvPr descr="Abstract modern architecture background. 3D rendering (Provided by Getty Images)" id="86" name="Google Shape;86;p16"/>
          <p:cNvPicPr preferRelativeResize="0"/>
          <p:nvPr/>
        </p:nvPicPr>
        <p:blipFill>
          <a:blip r:embed="rId4">
            <a:alphaModFix/>
          </a:blip>
          <a:stretch>
            <a:fillRect/>
          </a:stretch>
        </p:blipFill>
        <p:spPr>
          <a:xfrm>
            <a:off x="5090350" y="0"/>
            <a:ext cx="4053652" cy="4677101"/>
          </a:xfrm>
          <a:prstGeom prst="rect">
            <a:avLst/>
          </a:prstGeom>
          <a:noFill/>
          <a:ln>
            <a:noFill/>
          </a:ln>
          <a:effectLst>
            <a:reflection blurRad="0" dir="5400000" dist="57150" endA="0" endPos="4000" fadeDir="5400012" kx="0" rotWithShape="0" algn="bl" stPos="0" sy="-100000" ky="0"/>
          </a:effectLst>
        </p:spPr>
      </p:pic>
      <p:sp>
        <p:nvSpPr>
          <p:cNvPr id="87" name="Google Shape;87;p16"/>
          <p:cNvSpPr txBox="1"/>
          <p:nvPr/>
        </p:nvSpPr>
        <p:spPr>
          <a:xfrm>
            <a:off x="780300" y="396025"/>
            <a:ext cx="3560400" cy="29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88" name="Google Shape;88;p16" title="Smart Luggage.png"/>
          <p:cNvPicPr preferRelativeResize="0"/>
          <p:nvPr/>
        </p:nvPicPr>
        <p:blipFill rotWithShape="1">
          <a:blip r:embed="rId5">
            <a:alphaModFix/>
          </a:blip>
          <a:srcRect b="0" l="-7560" r="7560" t="0"/>
          <a:stretch/>
        </p:blipFill>
        <p:spPr>
          <a:xfrm>
            <a:off x="5869450" y="462296"/>
            <a:ext cx="2604974" cy="3400251"/>
          </a:xfrm>
          <a:prstGeom prst="rect">
            <a:avLst/>
          </a:prstGeom>
          <a:noFill/>
          <a:ln>
            <a:noFill/>
          </a:ln>
        </p:spPr>
      </p:pic>
      <p:sp>
        <p:nvSpPr>
          <p:cNvPr id="89" name="Google Shape;89;p16"/>
          <p:cNvSpPr txBox="1"/>
          <p:nvPr/>
        </p:nvSpPr>
        <p:spPr>
          <a:xfrm>
            <a:off x="315300" y="1432025"/>
            <a:ext cx="3248100" cy="23691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lt2"/>
              </a:buClr>
              <a:buSzPts val="2000"/>
              <a:buFont typeface="Montserrat Medium"/>
              <a:buChar char="●"/>
            </a:pPr>
            <a:r>
              <a:rPr lang="en" sz="2000">
                <a:solidFill>
                  <a:schemeClr val="lt2"/>
                </a:solidFill>
                <a:latin typeface="Montserrat Medium"/>
                <a:ea typeface="Montserrat Medium"/>
                <a:cs typeface="Montserrat Medium"/>
                <a:sym typeface="Montserrat Medium"/>
              </a:rPr>
              <a:t>App-Controlled Movement </a:t>
            </a:r>
            <a:endParaRPr sz="2000">
              <a:solidFill>
                <a:schemeClr val="lt2"/>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2"/>
              </a:buClr>
              <a:buSzPts val="2000"/>
              <a:buFont typeface="Montserrat Medium"/>
              <a:buChar char="●"/>
            </a:pPr>
            <a:r>
              <a:rPr lang="en" sz="2000">
                <a:solidFill>
                  <a:schemeClr val="lt2"/>
                </a:solidFill>
                <a:latin typeface="Montserrat Medium"/>
                <a:ea typeface="Montserrat Medium"/>
                <a:cs typeface="Montserrat Medium"/>
                <a:sym typeface="Montserrat Medium"/>
              </a:rPr>
              <a:t>Resizable Design</a:t>
            </a:r>
            <a:endParaRPr sz="2000">
              <a:solidFill>
                <a:schemeClr val="lt2"/>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2"/>
              </a:buClr>
              <a:buSzPts val="2000"/>
              <a:buFont typeface="Montserrat Medium"/>
              <a:buChar char="●"/>
            </a:pPr>
            <a:r>
              <a:rPr lang="en" sz="2000">
                <a:solidFill>
                  <a:schemeClr val="lt2"/>
                </a:solidFill>
                <a:latin typeface="Montserrat Medium"/>
                <a:ea typeface="Montserrat Medium"/>
                <a:cs typeface="Montserrat Medium"/>
                <a:sym typeface="Montserrat Medium"/>
              </a:rPr>
              <a:t>GPS Tracking</a:t>
            </a:r>
            <a:endParaRPr sz="2000">
              <a:solidFill>
                <a:schemeClr val="lt2"/>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2"/>
              </a:buClr>
              <a:buSzPts val="2000"/>
              <a:buFont typeface="Montserrat Medium"/>
              <a:buChar char="●"/>
            </a:pPr>
            <a:r>
              <a:rPr lang="en" sz="2000">
                <a:solidFill>
                  <a:schemeClr val="lt2"/>
                </a:solidFill>
                <a:latin typeface="Montserrat Medium"/>
                <a:ea typeface="Montserrat Medium"/>
                <a:cs typeface="Montserrat Medium"/>
                <a:sym typeface="Montserrat Medium"/>
              </a:rPr>
              <a:t>Customizable Look</a:t>
            </a:r>
            <a:endParaRPr sz="2000">
              <a:solidFill>
                <a:schemeClr val="lt2"/>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Char char="●"/>
            </a:pPr>
            <a:r>
              <a:rPr lang="en" sz="2000">
                <a:solidFill>
                  <a:schemeClr val="lt2"/>
                </a:solidFill>
                <a:latin typeface="Montserrat Medium"/>
                <a:ea typeface="Montserrat Medium"/>
                <a:cs typeface="Montserrat Medium"/>
                <a:sym typeface="Montserrat Medium"/>
              </a:rPr>
              <a:t>Folds Down to Laptop Siz</a:t>
            </a:r>
            <a:r>
              <a:rPr lang="en" sz="2000">
                <a:solidFill>
                  <a:schemeClr val="lt1"/>
                </a:solidFill>
                <a:latin typeface="Montserrat Medium"/>
                <a:ea typeface="Montserrat Medium"/>
                <a:cs typeface="Montserrat Medium"/>
                <a:sym typeface="Montserrat Medium"/>
              </a:rPr>
              <a:t>e</a:t>
            </a:r>
            <a:endParaRPr sz="2000">
              <a:solidFill>
                <a:schemeClr val="lt1"/>
              </a:solidFill>
              <a:latin typeface="Montserrat Medium"/>
              <a:ea typeface="Montserrat Medium"/>
              <a:cs typeface="Montserrat Medium"/>
              <a:sym typeface="Montserrat Medium"/>
            </a:endParaRPr>
          </a:p>
        </p:txBody>
      </p:sp>
      <p:pic>
        <p:nvPicPr>
          <p:cNvPr descr="3d rendering empty neon cylinder podium. (Provided by Getty Images)" id="90" name="Google Shape;90;p16"/>
          <p:cNvPicPr preferRelativeResize="0"/>
          <p:nvPr/>
        </p:nvPicPr>
        <p:blipFill>
          <a:blip r:embed="rId6">
            <a:alphaModFix/>
          </a:blip>
          <a:stretch>
            <a:fillRect/>
          </a:stretch>
        </p:blipFill>
        <p:spPr>
          <a:xfrm>
            <a:off x="5150075" y="124875"/>
            <a:ext cx="3901972" cy="4427350"/>
          </a:xfrm>
          <a:prstGeom prst="rect">
            <a:avLst/>
          </a:prstGeom>
          <a:noFill/>
          <a:ln>
            <a:noFill/>
          </a:ln>
        </p:spPr>
      </p:pic>
      <p:sp>
        <p:nvSpPr>
          <p:cNvPr id="91" name="Google Shape;91;p16"/>
          <p:cNvSpPr txBox="1"/>
          <p:nvPr/>
        </p:nvSpPr>
        <p:spPr>
          <a:xfrm>
            <a:off x="6253650" y="571550"/>
            <a:ext cx="1826100" cy="322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92" name="Google Shape;92;p16" title="Smart Luggage.png"/>
          <p:cNvPicPr preferRelativeResize="0"/>
          <p:nvPr/>
        </p:nvPicPr>
        <p:blipFill>
          <a:blip r:embed="rId5">
            <a:alphaModFix/>
          </a:blip>
          <a:stretch>
            <a:fillRect/>
          </a:stretch>
        </p:blipFill>
        <p:spPr>
          <a:xfrm>
            <a:off x="6191525" y="370300"/>
            <a:ext cx="1826099" cy="3021604"/>
          </a:xfrm>
          <a:prstGeom prst="rect">
            <a:avLst/>
          </a:prstGeom>
          <a:noFill/>
          <a:ln>
            <a:noFill/>
          </a:ln>
        </p:spPr>
      </p:pic>
      <p:sp>
        <p:nvSpPr>
          <p:cNvPr id="93" name="Google Shape;93;p16"/>
          <p:cNvSpPr txBox="1"/>
          <p:nvPr/>
        </p:nvSpPr>
        <p:spPr>
          <a:xfrm>
            <a:off x="883050" y="4198450"/>
            <a:ext cx="3248100" cy="6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sz="1700" u="sng">
                <a:solidFill>
                  <a:schemeClr val="lt1"/>
                </a:solidFill>
                <a:hlinkClick r:id="rId7">
                  <a:extLst>
                    <a:ext uri="{A12FA001-AC4F-418D-AE19-62706E023703}">
                      <ahyp:hlinkClr val="tx"/>
                    </a:ext>
                  </a:extLst>
                </a:hlinkClick>
              </a:rPr>
              <a:t>https://little-lingo-lab.base44pp/</a:t>
            </a:r>
            <a:endParaRPr sz="2000">
              <a:solidFill>
                <a:schemeClr val="lt1"/>
              </a:solidFill>
            </a:endParaRPr>
          </a:p>
          <a:p>
            <a:pPr indent="0" lvl="0" marL="0" rtl="0" algn="l">
              <a:spcBef>
                <a:spcPts val="0"/>
              </a:spcBef>
              <a:spcAft>
                <a:spcPts val="0"/>
              </a:spcAft>
              <a:buNone/>
            </a:pPr>
            <a:r>
              <a:t/>
            </a:r>
            <a:endParaRPr sz="1800">
              <a:solidFill>
                <a:schemeClr val="dk2"/>
              </a:solidFill>
            </a:endParaRPr>
          </a:p>
        </p:txBody>
      </p:sp>
      <p:sp>
        <p:nvSpPr>
          <p:cNvPr id="94" name="Google Shape;94;p16"/>
          <p:cNvSpPr txBox="1"/>
          <p:nvPr/>
        </p:nvSpPr>
        <p:spPr>
          <a:xfrm>
            <a:off x="1473400" y="3656700"/>
            <a:ext cx="2424300" cy="49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016AC5"/>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3d rendering empty neon cylinder podium. (Provided by Getty Images)" id="99" name="Google Shape;99;p17"/>
          <p:cNvPicPr preferRelativeResize="0"/>
          <p:nvPr/>
        </p:nvPicPr>
        <p:blipFill>
          <a:blip r:embed="rId3">
            <a:alphaModFix/>
          </a:blip>
          <a:stretch>
            <a:fillRect/>
          </a:stretch>
        </p:blipFill>
        <p:spPr>
          <a:xfrm>
            <a:off x="0" y="0"/>
            <a:ext cx="9144003" cy="5143501"/>
          </a:xfrm>
          <a:prstGeom prst="rect">
            <a:avLst/>
          </a:prstGeom>
          <a:noFill/>
          <a:ln>
            <a:noFill/>
          </a:ln>
        </p:spPr>
      </p:pic>
      <p:sp>
        <p:nvSpPr>
          <p:cNvPr id="100" name="Google Shape;100;p17"/>
          <p:cNvSpPr txBox="1"/>
          <p:nvPr/>
        </p:nvSpPr>
        <p:spPr>
          <a:xfrm>
            <a:off x="1064175" y="564925"/>
            <a:ext cx="4361700" cy="6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chemeClr val="lt2"/>
                </a:solidFill>
                <a:latin typeface="Montserrat"/>
                <a:ea typeface="Montserrat"/>
                <a:cs typeface="Montserrat"/>
                <a:sym typeface="Montserrat"/>
              </a:rPr>
              <a:t>Key Benefits</a:t>
            </a:r>
            <a:endParaRPr b="1" sz="3400">
              <a:solidFill>
                <a:schemeClr val="lt2"/>
              </a:solidFill>
              <a:latin typeface="Montserrat"/>
              <a:ea typeface="Montserrat"/>
              <a:cs typeface="Montserrat"/>
              <a:sym typeface="Montserrat"/>
            </a:endParaRPr>
          </a:p>
        </p:txBody>
      </p:sp>
      <p:sp>
        <p:nvSpPr>
          <p:cNvPr id="101" name="Google Shape;101;p17"/>
          <p:cNvSpPr/>
          <p:nvPr/>
        </p:nvSpPr>
        <p:spPr>
          <a:xfrm>
            <a:off x="1285100" y="1951875"/>
            <a:ext cx="735900" cy="328500"/>
          </a:xfrm>
          <a:prstGeom prst="chevron">
            <a:avLst>
              <a:gd fmla="val 50000"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7"/>
          <p:cNvSpPr txBox="1"/>
          <p:nvPr/>
        </p:nvSpPr>
        <p:spPr>
          <a:xfrm>
            <a:off x="1918150" y="1816250"/>
            <a:ext cx="31794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Montserrat Medium"/>
                <a:ea typeface="Montserrat Medium"/>
                <a:cs typeface="Montserrat Medium"/>
                <a:sym typeface="Montserrat Medium"/>
              </a:rPr>
              <a:t>   Adjust to Airline Size </a:t>
            </a:r>
            <a:endParaRPr sz="2000">
              <a:solidFill>
                <a:schemeClr val="lt2"/>
              </a:solidFill>
              <a:latin typeface="Montserrat Medium"/>
              <a:ea typeface="Montserrat Medium"/>
              <a:cs typeface="Montserrat Medium"/>
              <a:sym typeface="Montserrat Medium"/>
            </a:endParaRPr>
          </a:p>
          <a:p>
            <a:pPr indent="0" lvl="0" marL="0" rtl="0" algn="l">
              <a:spcBef>
                <a:spcPts val="0"/>
              </a:spcBef>
              <a:spcAft>
                <a:spcPts val="0"/>
              </a:spcAft>
              <a:buNone/>
            </a:pPr>
            <a:r>
              <a:rPr lang="en" sz="2000">
                <a:solidFill>
                  <a:schemeClr val="lt2"/>
                </a:solidFill>
                <a:latin typeface="Montserrat Medium"/>
                <a:ea typeface="Montserrat Medium"/>
                <a:cs typeface="Montserrat Medium"/>
                <a:sym typeface="Montserrat Medium"/>
              </a:rPr>
              <a:t>   Limist </a:t>
            </a:r>
            <a:endParaRPr sz="2000">
              <a:solidFill>
                <a:schemeClr val="lt2"/>
              </a:solidFill>
              <a:latin typeface="Montserrat Medium"/>
              <a:ea typeface="Montserrat Medium"/>
              <a:cs typeface="Montserrat Medium"/>
              <a:sym typeface="Montserrat Medium"/>
            </a:endParaRPr>
          </a:p>
        </p:txBody>
      </p:sp>
      <p:sp>
        <p:nvSpPr>
          <p:cNvPr id="103" name="Google Shape;103;p17"/>
          <p:cNvSpPr txBox="1"/>
          <p:nvPr/>
        </p:nvSpPr>
        <p:spPr>
          <a:xfrm>
            <a:off x="1064175" y="2928075"/>
            <a:ext cx="735900" cy="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4" name="Google Shape;104;p17"/>
          <p:cNvSpPr txBox="1"/>
          <p:nvPr/>
        </p:nvSpPr>
        <p:spPr>
          <a:xfrm>
            <a:off x="1064175" y="2813775"/>
            <a:ext cx="735900" cy="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5" name="Google Shape;105;p17"/>
          <p:cNvSpPr txBox="1"/>
          <p:nvPr/>
        </p:nvSpPr>
        <p:spPr>
          <a:xfrm>
            <a:off x="1350575" y="2283375"/>
            <a:ext cx="4059600" cy="6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6" name="Google Shape;106;p17"/>
          <p:cNvSpPr txBox="1"/>
          <p:nvPr/>
        </p:nvSpPr>
        <p:spPr>
          <a:xfrm>
            <a:off x="1198175" y="2338550"/>
            <a:ext cx="4059600" cy="6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7" name="Google Shape;107;p17"/>
          <p:cNvSpPr txBox="1"/>
          <p:nvPr/>
        </p:nvSpPr>
        <p:spPr>
          <a:xfrm>
            <a:off x="1502975" y="2435775"/>
            <a:ext cx="4059600" cy="6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8" name="Google Shape;108;p17"/>
          <p:cNvSpPr txBox="1"/>
          <p:nvPr/>
        </p:nvSpPr>
        <p:spPr>
          <a:xfrm>
            <a:off x="1215225" y="2928075"/>
            <a:ext cx="40596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9" name="Google Shape;109;p17"/>
          <p:cNvSpPr txBox="1"/>
          <p:nvPr/>
        </p:nvSpPr>
        <p:spPr>
          <a:xfrm>
            <a:off x="1931075" y="2598275"/>
            <a:ext cx="28986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Montserrat Medium"/>
                <a:ea typeface="Montserrat Medium"/>
                <a:cs typeface="Montserrat Medium"/>
                <a:sym typeface="Montserrat Medium"/>
              </a:rPr>
              <a:t>   Easy Lock &amp; Unlock</a:t>
            </a:r>
            <a:endParaRPr sz="2000">
              <a:solidFill>
                <a:schemeClr val="lt2"/>
              </a:solidFill>
              <a:latin typeface="Montserrat Medium"/>
              <a:ea typeface="Montserrat Medium"/>
              <a:cs typeface="Montserrat Medium"/>
              <a:sym typeface="Montserrat Medium"/>
            </a:endParaRPr>
          </a:p>
        </p:txBody>
      </p:sp>
      <p:sp>
        <p:nvSpPr>
          <p:cNvPr id="110" name="Google Shape;110;p17"/>
          <p:cNvSpPr txBox="1"/>
          <p:nvPr/>
        </p:nvSpPr>
        <p:spPr>
          <a:xfrm>
            <a:off x="2230783" y="3216095"/>
            <a:ext cx="31794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Montserrat Medium"/>
                <a:ea typeface="Montserrat Medium"/>
                <a:cs typeface="Montserrat Medium"/>
                <a:sym typeface="Montserrat Medium"/>
              </a:rPr>
              <a:t>Real Time Location Tracking</a:t>
            </a:r>
            <a:endParaRPr sz="2000">
              <a:solidFill>
                <a:schemeClr val="lt2"/>
              </a:solidFill>
              <a:latin typeface="Montserrat Medium"/>
              <a:ea typeface="Montserrat Medium"/>
              <a:cs typeface="Montserrat Medium"/>
              <a:sym typeface="Montserrat Medium"/>
            </a:endParaRPr>
          </a:p>
        </p:txBody>
      </p:sp>
      <p:sp>
        <p:nvSpPr>
          <p:cNvPr id="111" name="Google Shape;111;p17"/>
          <p:cNvSpPr/>
          <p:nvPr/>
        </p:nvSpPr>
        <p:spPr>
          <a:xfrm>
            <a:off x="1285100" y="2724263"/>
            <a:ext cx="735900" cy="328500"/>
          </a:xfrm>
          <a:prstGeom prst="chevron">
            <a:avLst>
              <a:gd fmla="val 50000"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7"/>
          <p:cNvSpPr txBox="1"/>
          <p:nvPr/>
        </p:nvSpPr>
        <p:spPr>
          <a:xfrm>
            <a:off x="2091475" y="4238953"/>
            <a:ext cx="3842100" cy="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Montserrat Medium"/>
                <a:ea typeface="Montserrat Medium"/>
                <a:cs typeface="Montserrat Medium"/>
                <a:sym typeface="Montserrat Medium"/>
              </a:rPr>
              <a:t>Durable &amp; Waterproof </a:t>
            </a:r>
            <a:endParaRPr sz="2000">
              <a:solidFill>
                <a:schemeClr val="lt2"/>
              </a:solidFill>
              <a:latin typeface="Montserrat Medium"/>
              <a:ea typeface="Montserrat Medium"/>
              <a:cs typeface="Montserrat Medium"/>
              <a:sym typeface="Montserrat Medium"/>
            </a:endParaRPr>
          </a:p>
        </p:txBody>
      </p:sp>
      <p:sp>
        <p:nvSpPr>
          <p:cNvPr id="113" name="Google Shape;113;p17"/>
          <p:cNvSpPr/>
          <p:nvPr/>
        </p:nvSpPr>
        <p:spPr>
          <a:xfrm>
            <a:off x="1350575" y="3438463"/>
            <a:ext cx="735900" cy="328500"/>
          </a:xfrm>
          <a:prstGeom prst="chevron">
            <a:avLst>
              <a:gd fmla="val 50000"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7"/>
          <p:cNvSpPr/>
          <p:nvPr/>
        </p:nvSpPr>
        <p:spPr>
          <a:xfrm>
            <a:off x="1350575" y="4238950"/>
            <a:ext cx="735900" cy="328500"/>
          </a:xfrm>
          <a:prstGeom prst="chevron">
            <a:avLst>
              <a:gd fmla="val 50000"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7"/>
          <p:cNvSpPr txBox="1"/>
          <p:nvPr/>
        </p:nvSpPr>
        <p:spPr>
          <a:xfrm>
            <a:off x="5980100" y="1254900"/>
            <a:ext cx="2835000" cy="23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16" name="Google Shape;116;p17" title="AI Lock.png"/>
          <p:cNvPicPr preferRelativeResize="0"/>
          <p:nvPr/>
        </p:nvPicPr>
        <p:blipFill>
          <a:blip r:embed="rId4">
            <a:alphaModFix/>
          </a:blip>
          <a:stretch>
            <a:fillRect/>
          </a:stretch>
        </p:blipFill>
        <p:spPr>
          <a:xfrm>
            <a:off x="5562575" y="60075"/>
            <a:ext cx="3179400" cy="3179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